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Source Sans 3" panose="020B0604020202020204" charset="0"/>
      <p:regular r:id="rId8"/>
    </p:embeddedFont>
    <p:embeddedFont>
      <p:font typeface="Source Sans 3 Bold" panose="020B0604020202020204" charset="0"/>
      <p:regular r:id="rId9"/>
    </p:embeddedFont>
    <p:embeddedFont>
      <p:font typeface="Source Serif 4 SemiBold" panose="020B0604020202020204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9577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43818"/>
            <a:ext cx="1169958" cy="219968"/>
          </a:xfrm>
          <a:prstGeom prst="roundRect">
            <a:avLst>
              <a:gd name="adj" fmla="val 22121"/>
            </a:avLst>
          </a:prstGeom>
          <a:solidFill>
            <a:srgbClr val="F4D4F7"/>
          </a:solidFill>
          <a:ln/>
        </p:spPr>
      </p:sp>
      <p:sp>
        <p:nvSpPr>
          <p:cNvPr id="3" name="Text 1"/>
          <p:cNvSpPr/>
          <p:nvPr/>
        </p:nvSpPr>
        <p:spPr>
          <a:xfrm>
            <a:off x="784900" y="587177"/>
            <a:ext cx="1605915" cy="13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98086" y="811808"/>
            <a:ext cx="10795524" cy="425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kern="0" spc="-54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SaaS Customer Retention &amp; Revenue Health Analysis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98086" y="1417836"/>
            <a:ext cx="10795524" cy="146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spcAft>
                <a:spcPts val="1050"/>
              </a:spcAft>
              <a:buNone/>
            </a:pPr>
            <a:r>
              <a:rPr lang="en-US" sz="140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data-driven investigation into the root drivers of customer attrition.</a:t>
            </a:r>
            <a:endParaRPr lang="en-US" sz="1400" dirty="0"/>
          </a:p>
          <a:p>
            <a:pPr marL="0" indent="0" algn="l">
              <a:lnSpc>
                <a:spcPct val="122000"/>
              </a:lnSpc>
              <a:spcAft>
                <a:spcPts val="1050"/>
              </a:spcAft>
              <a:buNone/>
            </a:pPr>
            <a:r>
              <a:rPr lang="en-US" sz="140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Combining subscription, support, and AI-classified exit interview intelligence.</a:t>
            </a:r>
            <a:endParaRPr lang="en-US" sz="1400" dirty="0"/>
          </a:p>
          <a:p>
            <a:pPr marL="0" indent="0" algn="l">
              <a:lnSpc>
                <a:spcPct val="122000"/>
              </a:lnSpc>
              <a:spcAft>
                <a:spcPts val="1050"/>
              </a:spcAft>
              <a:buNone/>
            </a:pPr>
            <a:r>
              <a:rPr lang="en-US" sz="140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Focused on reducing churn below </a:t>
            </a:r>
            <a:r>
              <a:rPr lang="en-US" sz="1400" b="1" kern="0" spc="-23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15%</a:t>
            </a:r>
            <a:r>
              <a:rPr lang="en-US" sz="140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actionable, evidence-based interventions.</a:t>
            </a:r>
            <a:endParaRPr lang="en-US" sz="14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40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3004" y="3090763"/>
            <a:ext cx="3148529" cy="47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kern="0" spc="-7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95,090</a:t>
            </a:r>
            <a:endParaRPr lang="en-US" sz="3750" dirty="0"/>
          </a:p>
        </p:txBody>
      </p:sp>
      <p:sp>
        <p:nvSpPr>
          <p:cNvPr id="7" name="Text 5"/>
          <p:cNvSpPr/>
          <p:nvPr/>
        </p:nvSpPr>
        <p:spPr>
          <a:xfrm>
            <a:off x="698086" y="3731121"/>
            <a:ext cx="3498366" cy="212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Total Customers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8086" y="4016077"/>
            <a:ext cx="3498366" cy="53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40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Active subscription base analyzed across all plan tiers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1484" y="3090763"/>
            <a:ext cx="3148529" cy="47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kern="0" spc="-7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19,811</a:t>
            </a:r>
            <a:endParaRPr lang="en-US" sz="3750" dirty="0"/>
          </a:p>
        </p:txBody>
      </p:sp>
      <p:sp>
        <p:nvSpPr>
          <p:cNvPr id="10" name="Text 8"/>
          <p:cNvSpPr/>
          <p:nvPr/>
        </p:nvSpPr>
        <p:spPr>
          <a:xfrm>
            <a:off x="4346565" y="3731121"/>
            <a:ext cx="3498465" cy="212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Churned Customers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6565" y="4016077"/>
            <a:ext cx="3498465" cy="53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40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Confirmed attrition events captured in the study period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70063" y="3090763"/>
            <a:ext cx="3148529" cy="47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kern="0" spc="-7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20.83%</a:t>
            </a:r>
            <a:endParaRPr lang="en-US" sz="3750" dirty="0"/>
          </a:p>
        </p:txBody>
      </p:sp>
      <p:sp>
        <p:nvSpPr>
          <p:cNvPr id="13" name="Text 11"/>
          <p:cNvSpPr/>
          <p:nvPr/>
        </p:nvSpPr>
        <p:spPr>
          <a:xfrm>
            <a:off x="7995145" y="3731121"/>
            <a:ext cx="3498366" cy="212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Overall Churn 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95145" y="4016077"/>
            <a:ext cx="3498366" cy="53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40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Exceeds the 15% target threshold — immediate action required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1484" y="4858742"/>
            <a:ext cx="3148529" cy="47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750" kern="0" spc="-7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3,368</a:t>
            </a:r>
            <a:endParaRPr lang="en-US" sz="3750" dirty="0"/>
          </a:p>
        </p:txBody>
      </p:sp>
      <p:sp>
        <p:nvSpPr>
          <p:cNvPr id="16" name="Text 14"/>
          <p:cNvSpPr/>
          <p:nvPr/>
        </p:nvSpPr>
        <p:spPr>
          <a:xfrm>
            <a:off x="4346565" y="5499100"/>
            <a:ext cx="3498465" cy="212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Exit Interviews Analyzed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46565" y="5784056"/>
            <a:ext cx="3498465" cy="53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40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Unstructured interviews classified via AI for qualitative depth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494109"/>
            <a:ext cx="719020" cy="158849"/>
          </a:xfrm>
          <a:prstGeom prst="roundRect">
            <a:avLst>
              <a:gd name="adj" fmla="val 22123"/>
            </a:avLst>
          </a:prstGeom>
          <a:solidFill>
            <a:srgbClr val="F4D4F7"/>
          </a:solidFill>
          <a:ln/>
        </p:spPr>
      </p:sp>
      <p:sp>
        <p:nvSpPr>
          <p:cNvPr id="3" name="Text 1"/>
          <p:cNvSpPr/>
          <p:nvPr/>
        </p:nvSpPr>
        <p:spPr>
          <a:xfrm>
            <a:off x="760790" y="525463"/>
            <a:ext cx="1203196" cy="96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FINDING 1 &amp; 2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98086" y="677962"/>
            <a:ext cx="10795524" cy="307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kern="0" spc="-39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Subscription Tier Vulnerability &amp; The 4-Ticket Churn Cliff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98086" y="1142107"/>
            <a:ext cx="5049116" cy="153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9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Finding 1 — Subscription Tier Risk Stratification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8086" y="1358503"/>
            <a:ext cx="5049116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Churn rates vary meaningfully across plan tiers, revealing that lower-tier customers are significantly more susceptible to attrition. The data points to structural pricing and value-perception gaps at the entry and standard levels.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930797"/>
            <a:ext cx="5049116" cy="1040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6158" y="2048073"/>
            <a:ext cx="4763770" cy="153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kern="0" spc="-19" dirty="0">
                <a:solidFill>
                  <a:srgbClr val="4C1D9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22.16%</a:t>
            </a:r>
            <a:r>
              <a:rPr lang="en-US" sz="950" kern="0" spc="-19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— Basic Plans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66158" y="2264470"/>
            <a:ext cx="4763770" cy="334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Highest vulnerability tier. Customers on Basic plans exhibit the greatest churn risk, likely driven by limited feature access and poor perceived ROI at renewal.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040171"/>
            <a:ext cx="5049116" cy="78551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6158" y="3157447"/>
            <a:ext cx="4763770" cy="153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kern="0" spc="-19" dirty="0">
                <a:solidFill>
                  <a:srgbClr val="4C1D9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22.18%</a:t>
            </a:r>
            <a:r>
              <a:rPr lang="en-US" sz="950" kern="0" spc="-19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— Standard Plans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866158" y="3373843"/>
            <a:ext cx="4763770" cy="334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Comparable risk profile to Basic. Standard plan customers face similar price sensitivity and unclear value differentiation from the tier above.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888293"/>
            <a:ext cx="5049116" cy="1025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6158" y="4005569"/>
            <a:ext cx="4763770" cy="153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kern="0" spc="-19" dirty="0">
                <a:solidFill>
                  <a:srgbClr val="64748B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15.08%</a:t>
            </a:r>
            <a:r>
              <a:rPr lang="en-US" sz="950" kern="0" spc="-19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— Enterprise Plans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66158" y="4221965"/>
            <a:ext cx="4763770" cy="334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Significantly lower attrition. Higher switching costs, dedicated CSM relationships, and deeper product integration anchor Enterprise accounts effectively.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008736" y="1142107"/>
            <a:ext cx="5491124" cy="153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9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Finding 2 — Support Escalation Threshold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008736" y="1358503"/>
            <a:ext cx="5491124" cy="334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1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 ticket volume is a leading indicator of churn risk. The data reveals a sharp, non-linear escalation in churn probability at the </a:t>
            </a:r>
            <a:r>
              <a:rPr lang="en-US" sz="1100" b="1" kern="0" spc="-16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4-ticket threshold</a:t>
            </a:r>
            <a:r>
              <a:rPr lang="en-US" sz="11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 critical intervention window.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008736" y="4983063"/>
            <a:ext cx="5491124" cy="3345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4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Churn holds near a ~20% baseline for accounts with 0–3 tickets, then spikes sharply to </a:t>
            </a:r>
            <a:r>
              <a:rPr lang="en-US" sz="1400" b="1" kern="0" spc="-16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30.04%</a:t>
            </a:r>
            <a:r>
              <a:rPr lang="en-US" sz="14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at 4 tickets and reaches </a:t>
            </a:r>
            <a:r>
              <a:rPr lang="en-US" sz="1400" b="1" kern="0" spc="-16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33.90%</a:t>
            </a:r>
            <a:r>
              <a:rPr lang="en-US" sz="1400" kern="0" spc="-1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accounts with 6 or more — a 69% relative increase over baseline.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98086" y="5500787"/>
            <a:ext cx="6542718" cy="133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endParaRPr lang="en-US" sz="800" dirty="0"/>
          </a:p>
        </p:txBody>
      </p:sp>
      <p:sp>
        <p:nvSpPr>
          <p:cNvPr id="26" name="Text 19"/>
          <p:cNvSpPr/>
          <p:nvPr/>
        </p:nvSpPr>
        <p:spPr>
          <a:xfrm>
            <a:off x="7294578" y="6043613"/>
            <a:ext cx="4681024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endParaRPr lang="en-US" sz="1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C1EC8E3-3DAD-FA6A-291C-E139451F3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685" y="1994531"/>
            <a:ext cx="4996157" cy="25913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25363"/>
            <a:ext cx="904356" cy="238621"/>
          </a:xfrm>
          <a:prstGeom prst="roundRect">
            <a:avLst>
              <a:gd name="adj" fmla="val 22120"/>
            </a:avLst>
          </a:prstGeom>
          <a:solidFill>
            <a:srgbClr val="F4D4F7"/>
          </a:solidFill>
          <a:ln/>
        </p:spPr>
      </p:sp>
      <p:sp>
        <p:nvSpPr>
          <p:cNvPr id="3" name="Text 1"/>
          <p:cNvSpPr/>
          <p:nvPr/>
        </p:nvSpPr>
        <p:spPr>
          <a:xfrm>
            <a:off x="792242" y="572393"/>
            <a:ext cx="1325629" cy="14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FINDING 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98086" y="820440"/>
            <a:ext cx="10795524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kern="0" spc="-58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AI Exit Interview Classification</a:t>
            </a:r>
            <a:endParaRPr lang="en-US" sz="29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2900" kern="0" spc="-58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Drivers of Attrition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98086" y="1956395"/>
            <a:ext cx="11405108" cy="298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50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Analysis of </a:t>
            </a:r>
            <a:r>
              <a:rPr lang="en-US" sz="1500" b="1" kern="0" spc="-25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3,368</a:t>
            </a:r>
            <a:r>
              <a:rPr lang="en-US" sz="150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exit interviews identified four dominant reasons customers leave.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572941"/>
            <a:ext cx="2811888" cy="14783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4195" y="3204468"/>
            <a:ext cx="24596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9" dirty="0">
                <a:solidFill>
                  <a:srgbClr val="4C1D9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Price Concerns — 32.9%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74195" y="3576737"/>
            <a:ext cx="2459670" cy="298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500" b="1" kern="0" spc="-25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1,108 customers</a:t>
            </a:r>
            <a:endParaRPr lang="en-US" sz="15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1258" y="2572941"/>
            <a:ext cx="2811888" cy="14783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27367" y="3204468"/>
            <a:ext cx="2459670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9" dirty="0">
                <a:solidFill>
                  <a:srgbClr val="4C1D9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Support Delays — 26.7%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3827367" y="3576737"/>
            <a:ext cx="2459670" cy="298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500" b="1" kern="0" spc="-25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898 customers</a:t>
            </a:r>
            <a:endParaRPr lang="en-US" sz="15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4192588"/>
            <a:ext cx="2811888" cy="170934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4195" y="4824115"/>
            <a:ext cx="245967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9" dirty="0">
                <a:solidFill>
                  <a:srgbClr val="64748B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Product &amp; Performance Issues — 21.9%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874195" y="5427365"/>
            <a:ext cx="2459670" cy="298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500" b="1" kern="0" spc="-25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737 customers</a:t>
            </a:r>
            <a:endParaRPr lang="en-US" sz="15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1258" y="4192588"/>
            <a:ext cx="2811888" cy="170934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27367" y="4824115"/>
            <a:ext cx="2459670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9" dirty="0">
                <a:solidFill>
                  <a:srgbClr val="64748B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Competitor &amp; Value Switching — 17.2%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3827367" y="5427365"/>
            <a:ext cx="2459670" cy="298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500" b="1" kern="0" spc="-25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581 customers</a:t>
            </a:r>
            <a:endParaRPr lang="en-US" sz="15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2669" y="2572941"/>
            <a:ext cx="4182462" cy="31750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52669" y="5906988"/>
            <a:ext cx="5256776" cy="298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500" b="1" kern="0" spc="-25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Price and support</a:t>
            </a:r>
            <a:r>
              <a:rPr lang="en-US" sz="150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account for </a:t>
            </a:r>
            <a:r>
              <a:rPr lang="en-US" sz="1500" b="1" kern="0" spc="-25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59.6%</a:t>
            </a:r>
            <a:r>
              <a:rPr lang="en-US" sz="150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all exit reasons.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37964"/>
            <a:ext cx="653041" cy="172442"/>
          </a:xfrm>
          <a:prstGeom prst="roundRect">
            <a:avLst>
              <a:gd name="adj" fmla="val 22106"/>
            </a:avLst>
          </a:prstGeom>
          <a:solidFill>
            <a:srgbClr val="F4D4F7"/>
          </a:solidFill>
          <a:ln/>
        </p:spPr>
      </p:sp>
      <p:sp>
        <p:nvSpPr>
          <p:cNvPr id="3" name="Text 1"/>
          <p:cNvSpPr/>
          <p:nvPr/>
        </p:nvSpPr>
        <p:spPr>
          <a:xfrm>
            <a:off x="766148" y="571996"/>
            <a:ext cx="1126502" cy="104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kern="0" spc="-1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FINDING 4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98086" y="739874"/>
            <a:ext cx="10795524" cy="333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kern="0" spc="-42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Emotional Analysis — The Disappointment Factor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16331" y="1184077"/>
            <a:ext cx="4758511" cy="4290814"/>
          </a:xfrm>
          <a:prstGeom prst="roundRect">
            <a:avLst>
              <a:gd name="adj" fmla="val 1904"/>
            </a:avLst>
          </a:prstGeom>
          <a:solidFill>
            <a:srgbClr val="4C1D95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29736" y="1257796"/>
            <a:ext cx="4531703" cy="300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126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94.5%</a:t>
            </a:r>
            <a:endParaRPr lang="en-US" sz="32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126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Disappointment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60145" y="2481560"/>
            <a:ext cx="4531703" cy="814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1100" b="1" kern="0" spc="-18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3,184 of 3,368</a:t>
            </a:r>
            <a:r>
              <a:rPr lang="en-US" sz="1100" kern="0" spc="-18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departing users expressed disappointment as their primary emotional state.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kern="0" spc="-18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churn was not driven by sudden anger — it built quietly over time as expectations went unmet.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6252" y="1267023"/>
            <a:ext cx="5923608" cy="854273"/>
          </a:xfrm>
          <a:prstGeom prst="roundRect">
            <a:avLst>
              <a:gd name="adj" fmla="val 5578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96006" y="1386780"/>
            <a:ext cx="5684100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1,075 Customers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96006" y="1627287"/>
            <a:ext cx="5684100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kern="0" spc="-18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Price × Disappointed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kern="0" spc="-1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Largest pairing. Renewal pricing felt unexpected, not inflammatory.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6252" y="2195016"/>
            <a:ext cx="5923608" cy="854273"/>
          </a:xfrm>
          <a:prstGeom prst="roundRect">
            <a:avLst>
              <a:gd name="adj" fmla="val 5578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96006" y="2314773"/>
            <a:ext cx="5684100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867 Customers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96006" y="2555280"/>
            <a:ext cx="5684100" cy="37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kern="0" spc="-18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Support × Disappointed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00" kern="0" spc="-1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Unmet expectations in technical assistance eroded trust over time.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249" y="3869531"/>
            <a:ext cx="1395378" cy="283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kern="0" spc="-4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94.5%</a:t>
            </a:r>
            <a:endParaRPr lang="en-US" sz="22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158" y="3160514"/>
            <a:ext cx="1701757" cy="1701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576252" y="4964311"/>
            <a:ext cx="2915668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Disappointment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576252" y="5204817"/>
            <a:ext cx="2915668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kern="0" spc="-1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Primary emotion across exit interviews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344188" y="3869531"/>
            <a:ext cx="1395378" cy="283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200" kern="0" spc="-4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32%</a:t>
            </a:r>
            <a:endParaRPr lang="en-US" sz="22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1097" y="3160514"/>
            <a:ext cx="1701757" cy="17018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584092" y="4964311"/>
            <a:ext cx="2915768" cy="16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-2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Price-Driven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584092" y="5204817"/>
            <a:ext cx="2915768" cy="1871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kern="0" spc="-18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 disappointed customers, price was the trigger</a:t>
            </a:r>
            <a:endParaRPr lang="en-US" sz="11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8881A19-A1B8-929C-72D4-09AD38B5C7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483" y="3415190"/>
            <a:ext cx="4531702" cy="18580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8086" y="509191"/>
            <a:ext cx="1235739" cy="205581"/>
          </a:xfrm>
          <a:prstGeom prst="roundRect">
            <a:avLst>
              <a:gd name="adj" fmla="val 22109"/>
            </a:avLst>
          </a:prstGeom>
          <a:solidFill>
            <a:srgbClr val="F4D4F7"/>
          </a:solidFill>
          <a:ln/>
        </p:spPr>
      </p:sp>
      <p:sp>
        <p:nvSpPr>
          <p:cNvPr id="3" name="Text 1"/>
          <p:cNvSpPr/>
          <p:nvPr/>
        </p:nvSpPr>
        <p:spPr>
          <a:xfrm>
            <a:off x="779245" y="549771"/>
            <a:ext cx="1683006" cy="124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EXECUTIVE ACTION PLAN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98086" y="756642"/>
            <a:ext cx="10795524" cy="397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kern="0" spc="-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 Pillars to Lower Churn Below 15%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98086" y="1311672"/>
            <a:ext cx="10795524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b="1" kern="0" spc="-2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Three high-leverage interventions</a:t>
            </a:r>
            <a:r>
              <a:rPr lang="en-US" sz="13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tied directly to the analysis findings, designed to reduce churn through faster escalation, clearer pricing, and stronger support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8086" y="1909564"/>
            <a:ext cx="5345376" cy="1496913"/>
          </a:xfrm>
          <a:prstGeom prst="roundRect">
            <a:avLst>
              <a:gd name="adj" fmla="val 3795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667" y="2051149"/>
            <a:ext cx="5062212" cy="19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Pillar 1 — 3-Ticket SLA Trigger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39667" y="2312888"/>
            <a:ext cx="5062212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b="1" kern="0" spc="-2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Rooted in:</a:t>
            </a:r>
            <a:r>
              <a:rPr lang="en-US" sz="13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the 4-ticket churn cliff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39667" y="2615704"/>
            <a:ext cx="506221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8000"/>
              </a:lnSpc>
              <a:buSzPct val="100000"/>
              <a:buChar char="•"/>
            </a:pPr>
            <a:r>
              <a:rPr lang="en-US" sz="105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Trigger CSM alerts at the 3rd ticket</a:t>
            </a:r>
            <a:endParaRPr lang="en-US" sz="1050" dirty="0"/>
          </a:p>
          <a:p>
            <a:pPr marL="213360" indent="-213360" algn="l">
              <a:lnSpc>
                <a:spcPct val="118000"/>
              </a:lnSpc>
              <a:buSzPct val="100000"/>
              <a:buChar char="•"/>
            </a:pPr>
            <a:r>
              <a:rPr lang="en-US" sz="105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Escalate before the 4-ticket threshold</a:t>
            </a:r>
            <a:endParaRPr lang="en-US" sz="1050" dirty="0"/>
          </a:p>
          <a:p>
            <a:pPr marL="213360" indent="-213360" algn="l">
              <a:lnSpc>
                <a:spcPct val="118000"/>
              </a:lnSpc>
              <a:buSzPct val="100000"/>
              <a:buChar char="•"/>
            </a:pPr>
            <a:r>
              <a:rPr lang="en-US" sz="105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Treat every 3-ticket account as a retention risk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48234" y="1909564"/>
            <a:ext cx="5345376" cy="1496913"/>
          </a:xfrm>
          <a:prstGeom prst="roundRect">
            <a:avLst>
              <a:gd name="adj" fmla="val 3795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9815" y="2051149"/>
            <a:ext cx="5062212" cy="19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Pillar 2 — Pricing Restructure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89815" y="2312888"/>
            <a:ext cx="5062212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b="1" kern="0" spc="-2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Rooted in:</a:t>
            </a:r>
            <a:r>
              <a:rPr lang="en-US" sz="13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price-driven churn and Basic/Standard attrition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89815" y="2615704"/>
            <a:ext cx="5062212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8000"/>
              </a:lnSpc>
              <a:buSzPct val="100000"/>
              <a:buChar char="•"/>
            </a:pPr>
            <a:r>
              <a:rPr lang="en-US" sz="105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month-to-month billing for lower tiers</a:t>
            </a:r>
            <a:endParaRPr lang="en-US" sz="1050" dirty="0"/>
          </a:p>
          <a:p>
            <a:pPr marL="213360" indent="-213360" algn="l">
              <a:lnSpc>
                <a:spcPct val="118000"/>
              </a:lnSpc>
              <a:buSzPct val="100000"/>
              <a:buChar char="•"/>
            </a:pPr>
            <a:r>
              <a:rPr lang="en-US" sz="105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Simplify value messaging at renewal</a:t>
            </a:r>
            <a:endParaRPr lang="en-US" sz="1050" dirty="0"/>
          </a:p>
          <a:p>
            <a:pPr marL="213360" indent="-213360" algn="l">
              <a:lnSpc>
                <a:spcPct val="118000"/>
              </a:lnSpc>
              <a:buSzPct val="100000"/>
              <a:buChar char="•"/>
            </a:pPr>
            <a:r>
              <a:rPr lang="en-US" sz="105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Use targeted discounts for at-risk accounts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98086" y="3511252"/>
            <a:ext cx="10795524" cy="1496913"/>
          </a:xfrm>
          <a:prstGeom prst="roundRect">
            <a:avLst>
              <a:gd name="adj" fmla="val 3795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9667" y="3652838"/>
            <a:ext cx="10512360" cy="19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Pillar 3 — Support Overhaul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39667" y="3914577"/>
            <a:ext cx="10512360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b="1" kern="0" spc="-2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Rooted in:</a:t>
            </a:r>
            <a:r>
              <a:rPr lang="en-US" sz="13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support-driven churn and disappointment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9667" y="4217392"/>
            <a:ext cx="10512360" cy="649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18000"/>
              </a:lnSpc>
              <a:buSzPct val="100000"/>
              <a:buChar char="•"/>
            </a:pPr>
            <a:r>
              <a:rPr lang="en-US" sz="105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Improve self-service and knowledge base content</a:t>
            </a:r>
            <a:endParaRPr lang="en-US" sz="1050" dirty="0"/>
          </a:p>
          <a:p>
            <a:pPr marL="213360" indent="-213360" algn="l">
              <a:lnSpc>
                <a:spcPct val="118000"/>
              </a:lnSpc>
              <a:buSzPct val="100000"/>
              <a:buChar char="•"/>
            </a:pPr>
            <a:r>
              <a:rPr lang="en-US" sz="105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Shorten resolution times</a:t>
            </a:r>
            <a:endParaRPr lang="en-US" sz="1050" dirty="0"/>
          </a:p>
          <a:p>
            <a:pPr marL="213360" indent="-213360" algn="l">
              <a:lnSpc>
                <a:spcPct val="118000"/>
              </a:lnSpc>
              <a:buSzPct val="100000"/>
              <a:buChar char="•"/>
            </a:pPr>
            <a:r>
              <a:rPr lang="en-US" sz="105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post-resolution satisfaction checks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0655" y="5126038"/>
            <a:ext cx="5427626" cy="1222772"/>
          </a:xfrm>
          <a:prstGeom prst="roundRect">
            <a:avLst>
              <a:gd name="adj" fmla="val 7965"/>
            </a:avLst>
          </a:prstGeom>
          <a:solidFill>
            <a:srgbClr val="4C1D95">
              <a:alpha val="9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5887" y="5230813"/>
            <a:ext cx="5157162" cy="19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5" dirty="0">
                <a:solidFill>
                  <a:srgbClr val="FFFFFF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Target Outcome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5887" y="5534521"/>
            <a:ext cx="5157162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b="1" kern="0" spc="-2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Reduce churn from 20.83% to below 15%</a:t>
            </a:r>
            <a:r>
              <a:rPr lang="en-US" sz="1300" kern="0" spc="-2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retaining </a:t>
            </a:r>
            <a:r>
              <a:rPr lang="en-US" sz="1300" b="1" kern="0" spc="-2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5,600+ customers annually</a:t>
            </a:r>
            <a:r>
              <a:rPr lang="en-US" sz="1300" kern="0" spc="-2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at current volume.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7194" y="5230813"/>
            <a:ext cx="5232765" cy="198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5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Measurement Framework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67194" y="5534521"/>
            <a:ext cx="5232765" cy="72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300" kern="0" spc="-21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Track churn by tier monthly. Monitor 4-ticket breaches as a leading indicator. Re-run exit interview classification quarterly. Benchmark support resolution time against churn cohorts.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659</Words>
  <Application>Microsoft Office PowerPoint</Application>
  <PresentationFormat>Widescreen</PresentationFormat>
  <Paragraphs>89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Source Sans 3 Bold</vt:lpstr>
      <vt:lpstr>Arial</vt:lpstr>
      <vt:lpstr>Source Serif 4 SemiBold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Mitali Rautela</cp:lastModifiedBy>
  <cp:revision>2</cp:revision>
  <dcterms:created xsi:type="dcterms:W3CDTF">2026-08-10T08:04:29Z</dcterms:created>
  <dcterms:modified xsi:type="dcterms:W3CDTF">2026-08-10T08:13:45Z</dcterms:modified>
</cp:coreProperties>
</file>